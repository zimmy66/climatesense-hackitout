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mo Bold" charset="1" panose="020B0704020202020204"/>
      <p:regular r:id="rId16"/>
    </p:embeddedFont>
    <p:embeddedFont>
      <p:font typeface="Bitter" charset="1" panose="02000000000000000000"/>
      <p:regular r:id="rId17"/>
    </p:embeddedFont>
    <p:embeddedFont>
      <p:font typeface="Bitter Bold" charset="1" panose="02000000000000000000"/>
      <p:regular r:id="rId18"/>
    </p:embeddedFont>
    <p:embeddedFont>
      <p:font typeface="Arimo" charset="1" panose="020B0604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3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87100" y="0"/>
            <a:ext cx="7200900" cy="10287000"/>
            <a:chOff x="0" y="0"/>
            <a:chExt cx="96012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664447"/>
            <a:ext cx="8027938" cy="179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7"/>
              </a:lnSpc>
            </a:pPr>
            <a:r>
              <a:rPr lang="en-US" sz="11149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ClimaSense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3651047"/>
            <a:ext cx="9445523" cy="1278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3875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Climate Intelligence &amp; Decision Support Platform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5053308"/>
            <a:ext cx="9445523" cy="1543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0"/>
              </a:lnSpc>
            </a:pPr>
            <a:r>
              <a:rPr lang="en-US" sz="25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Transforming complex climate data into simple, actionable insights for researchers, farmers, NGOs, and policymakers. </a:t>
            </a:r>
          </a:p>
          <a:p>
            <a:pPr algn="l">
              <a:lnSpc>
                <a:spcPts val="4092"/>
              </a:lnSpc>
            </a:pPr>
            <a:r>
              <a:rPr lang="en-US" sz="25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Built at </a:t>
            </a:r>
            <a:r>
              <a:rPr lang="en-US" sz="2537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Hack It Out – Technex'26</a:t>
            </a:r>
            <a:r>
              <a:rPr lang="en-US" sz="25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for </a:t>
            </a:r>
            <a:r>
              <a:rPr lang="en-US" sz="2537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Byte the Bits</a:t>
            </a:r>
            <a:r>
              <a:rPr lang="en-US" sz="25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6666605"/>
            <a:ext cx="9445523" cy="514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2"/>
              </a:lnSpc>
            </a:pPr>
            <a:r>
              <a:rPr lang="en-US" sz="2537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Team:</a:t>
            </a:r>
            <a:r>
              <a:rPr lang="en-US" sz="25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Shubham Kumar • Ritesh Singh • Aryan Raj Yadav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7342584"/>
            <a:ext cx="9445523" cy="514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2"/>
              </a:lnSpc>
            </a:pPr>
            <a:r>
              <a:rPr lang="en-US" sz="2537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Institution:</a:t>
            </a:r>
            <a:r>
              <a:rPr lang="en-US" sz="25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BBDNIIT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8018564"/>
            <a:ext cx="9445523" cy="514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2"/>
              </a:lnSpc>
            </a:pPr>
            <a:r>
              <a:rPr lang="en-US" sz="2537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Date:</a:t>
            </a:r>
            <a:r>
              <a:rPr lang="en-US" sz="25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13 March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10816"/>
            <a:ext cx="7041952" cy="71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1"/>
              </a:lnSpc>
            </a:pPr>
            <a:r>
              <a:rPr lang="en-US" sz="4475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The Climate Data 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489472"/>
            <a:ext cx="16303523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249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Climate data holds immense power to guide environmental decisions, but accessing and understanding it remains a significant barrier for most users.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2513857"/>
            <a:ext cx="5300510" cy="2804370"/>
            <a:chOff x="0" y="0"/>
            <a:chExt cx="7067347" cy="37391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67423" cy="3739261"/>
            </a:xfrm>
            <a:custGeom>
              <a:avLst/>
              <a:gdLst/>
              <a:ahLst/>
              <a:cxnLst/>
              <a:rect r="r" b="b" t="t" l="l"/>
              <a:pathLst>
                <a:path h="3739261" w="7067423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7022719" y="0"/>
                  </a:lnTo>
                  <a:cubicBezTo>
                    <a:pt x="7047357" y="0"/>
                    <a:pt x="7067423" y="19939"/>
                    <a:pt x="7067423" y="44704"/>
                  </a:cubicBezTo>
                  <a:lnTo>
                    <a:pt x="7067423" y="3694557"/>
                  </a:lnTo>
                  <a:cubicBezTo>
                    <a:pt x="7067423" y="3719195"/>
                    <a:pt x="7047484" y="3739261"/>
                    <a:pt x="7022719" y="3739261"/>
                  </a:cubicBezTo>
                  <a:lnTo>
                    <a:pt x="44704" y="3739261"/>
                  </a:lnTo>
                  <a:cubicBezTo>
                    <a:pt x="20066" y="3739261"/>
                    <a:pt x="0" y="3719322"/>
                    <a:pt x="0" y="3694557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5476" y="2737094"/>
            <a:ext cx="669722" cy="669722"/>
            <a:chOff x="0" y="0"/>
            <a:chExt cx="892962" cy="8929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92937" cy="892937"/>
            </a:xfrm>
            <a:custGeom>
              <a:avLst/>
              <a:gdLst/>
              <a:ahLst/>
              <a:cxnLst/>
              <a:rect r="r" b="b" t="t" l="l"/>
              <a:pathLst>
                <a:path h="892937" w="892937">
                  <a:moveTo>
                    <a:pt x="0" y="446532"/>
                  </a:moveTo>
                  <a:cubicBezTo>
                    <a:pt x="0" y="199898"/>
                    <a:pt x="199898" y="0"/>
                    <a:pt x="446532" y="0"/>
                  </a:cubicBezTo>
                  <a:cubicBezTo>
                    <a:pt x="693166" y="0"/>
                    <a:pt x="892937" y="199898"/>
                    <a:pt x="892937" y="446532"/>
                  </a:cubicBezTo>
                  <a:cubicBezTo>
                    <a:pt x="892937" y="693166"/>
                    <a:pt x="693039" y="892937"/>
                    <a:pt x="446532" y="892937"/>
                  </a:cubicBezTo>
                  <a:cubicBezTo>
                    <a:pt x="200025" y="892937"/>
                    <a:pt x="0" y="693039"/>
                    <a:pt x="0" y="446532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399584" y="2921203"/>
            <a:ext cx="301381" cy="301381"/>
          </a:xfrm>
          <a:custGeom>
            <a:avLst/>
            <a:gdLst/>
            <a:ahLst/>
            <a:cxnLst/>
            <a:rect r="r" b="b" t="t" l="l"/>
            <a:pathLst>
              <a:path h="301381" w="301381">
                <a:moveTo>
                  <a:pt x="0" y="0"/>
                </a:moveTo>
                <a:lnTo>
                  <a:pt x="301381" y="0"/>
                </a:lnTo>
                <a:lnTo>
                  <a:pt x="301381" y="301381"/>
                </a:lnTo>
                <a:lnTo>
                  <a:pt x="0" y="3013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812" r="0" b="-7812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15476" y="3579171"/>
            <a:ext cx="2882652" cy="437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68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Complex Formats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5476" y="4019845"/>
            <a:ext cx="4854026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Climate data stored in complex NetCDF formats that require specialized knowledge to extract and interpret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493669" y="2513857"/>
            <a:ext cx="5300510" cy="2804370"/>
            <a:chOff x="0" y="0"/>
            <a:chExt cx="7067347" cy="37391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67423" cy="3739261"/>
            </a:xfrm>
            <a:custGeom>
              <a:avLst/>
              <a:gdLst/>
              <a:ahLst/>
              <a:cxnLst/>
              <a:rect r="r" b="b" t="t" l="l"/>
              <a:pathLst>
                <a:path h="3739261" w="7067423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7022719" y="0"/>
                  </a:lnTo>
                  <a:cubicBezTo>
                    <a:pt x="7047357" y="0"/>
                    <a:pt x="7067423" y="19939"/>
                    <a:pt x="7067423" y="44704"/>
                  </a:cubicBezTo>
                  <a:lnTo>
                    <a:pt x="7067423" y="3694557"/>
                  </a:lnTo>
                  <a:cubicBezTo>
                    <a:pt x="7067423" y="3719195"/>
                    <a:pt x="7047484" y="3739261"/>
                    <a:pt x="7022719" y="3739261"/>
                  </a:cubicBezTo>
                  <a:lnTo>
                    <a:pt x="44704" y="3739261"/>
                  </a:lnTo>
                  <a:cubicBezTo>
                    <a:pt x="20066" y="3739261"/>
                    <a:pt x="0" y="3719322"/>
                    <a:pt x="0" y="3694557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716916" y="2737094"/>
            <a:ext cx="669722" cy="669722"/>
            <a:chOff x="0" y="0"/>
            <a:chExt cx="892962" cy="8929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92937" cy="892937"/>
            </a:xfrm>
            <a:custGeom>
              <a:avLst/>
              <a:gdLst/>
              <a:ahLst/>
              <a:cxnLst/>
              <a:rect r="r" b="b" t="t" l="l"/>
              <a:pathLst>
                <a:path h="892937" w="892937">
                  <a:moveTo>
                    <a:pt x="0" y="446532"/>
                  </a:moveTo>
                  <a:cubicBezTo>
                    <a:pt x="0" y="199898"/>
                    <a:pt x="199898" y="0"/>
                    <a:pt x="446532" y="0"/>
                  </a:cubicBezTo>
                  <a:cubicBezTo>
                    <a:pt x="693166" y="0"/>
                    <a:pt x="892937" y="199898"/>
                    <a:pt x="892937" y="446532"/>
                  </a:cubicBezTo>
                  <a:cubicBezTo>
                    <a:pt x="892937" y="693166"/>
                    <a:pt x="693039" y="892937"/>
                    <a:pt x="446532" y="892937"/>
                  </a:cubicBezTo>
                  <a:cubicBezTo>
                    <a:pt x="200025" y="892937"/>
                    <a:pt x="0" y="693039"/>
                    <a:pt x="0" y="446532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6901015" y="2921203"/>
            <a:ext cx="301381" cy="301381"/>
          </a:xfrm>
          <a:custGeom>
            <a:avLst/>
            <a:gdLst/>
            <a:ahLst/>
            <a:cxnLst/>
            <a:rect r="r" b="b" t="t" l="l"/>
            <a:pathLst>
              <a:path h="301381" w="301381">
                <a:moveTo>
                  <a:pt x="0" y="0"/>
                </a:moveTo>
                <a:lnTo>
                  <a:pt x="301380" y="0"/>
                </a:lnTo>
                <a:lnTo>
                  <a:pt x="301380" y="301381"/>
                </a:lnTo>
                <a:lnTo>
                  <a:pt x="0" y="3013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716916" y="3588696"/>
            <a:ext cx="2682925" cy="40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8"/>
              </a:lnSpc>
            </a:pPr>
            <a:r>
              <a:rPr lang="en-US" sz="258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Time-Consuming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16916" y="4019845"/>
            <a:ext cx="4854026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Researchers spend weeks manually extracting and processing usable climate data from raw datasets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995099" y="2513857"/>
            <a:ext cx="5300510" cy="2804370"/>
            <a:chOff x="0" y="0"/>
            <a:chExt cx="7067347" cy="373915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67423" cy="3739261"/>
            </a:xfrm>
            <a:custGeom>
              <a:avLst/>
              <a:gdLst/>
              <a:ahLst/>
              <a:cxnLst/>
              <a:rect r="r" b="b" t="t" l="l"/>
              <a:pathLst>
                <a:path h="3739261" w="7067423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7022719" y="0"/>
                  </a:lnTo>
                  <a:cubicBezTo>
                    <a:pt x="7047357" y="0"/>
                    <a:pt x="7067423" y="19939"/>
                    <a:pt x="7067423" y="44704"/>
                  </a:cubicBezTo>
                  <a:lnTo>
                    <a:pt x="7067423" y="3694557"/>
                  </a:lnTo>
                  <a:cubicBezTo>
                    <a:pt x="7067423" y="3719195"/>
                    <a:pt x="7047484" y="3739261"/>
                    <a:pt x="7022719" y="3739261"/>
                  </a:cubicBezTo>
                  <a:lnTo>
                    <a:pt x="44704" y="3739261"/>
                  </a:lnTo>
                  <a:cubicBezTo>
                    <a:pt x="20066" y="3739261"/>
                    <a:pt x="0" y="3719322"/>
                    <a:pt x="0" y="3694557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218346" y="2737094"/>
            <a:ext cx="669722" cy="669722"/>
            <a:chOff x="0" y="0"/>
            <a:chExt cx="892962" cy="89296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2937" cy="892937"/>
            </a:xfrm>
            <a:custGeom>
              <a:avLst/>
              <a:gdLst/>
              <a:ahLst/>
              <a:cxnLst/>
              <a:rect r="r" b="b" t="t" l="l"/>
              <a:pathLst>
                <a:path h="892937" w="892937">
                  <a:moveTo>
                    <a:pt x="0" y="446532"/>
                  </a:moveTo>
                  <a:cubicBezTo>
                    <a:pt x="0" y="199898"/>
                    <a:pt x="199898" y="0"/>
                    <a:pt x="446532" y="0"/>
                  </a:cubicBezTo>
                  <a:cubicBezTo>
                    <a:pt x="693166" y="0"/>
                    <a:pt x="892937" y="199898"/>
                    <a:pt x="892937" y="446532"/>
                  </a:cubicBezTo>
                  <a:cubicBezTo>
                    <a:pt x="892937" y="693166"/>
                    <a:pt x="693039" y="892937"/>
                    <a:pt x="446532" y="892937"/>
                  </a:cubicBezTo>
                  <a:cubicBezTo>
                    <a:pt x="200025" y="892937"/>
                    <a:pt x="0" y="693039"/>
                    <a:pt x="0" y="446532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2402445" y="2921203"/>
            <a:ext cx="301381" cy="301381"/>
          </a:xfrm>
          <a:custGeom>
            <a:avLst/>
            <a:gdLst/>
            <a:ahLst/>
            <a:cxnLst/>
            <a:rect r="r" b="b" t="t" l="l"/>
            <a:pathLst>
              <a:path h="301381" w="301381">
                <a:moveTo>
                  <a:pt x="0" y="0"/>
                </a:moveTo>
                <a:lnTo>
                  <a:pt x="301381" y="0"/>
                </a:lnTo>
                <a:lnTo>
                  <a:pt x="301381" y="301381"/>
                </a:lnTo>
                <a:lnTo>
                  <a:pt x="0" y="3013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9373" r="0" b="-9373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218346" y="3588696"/>
            <a:ext cx="2738884" cy="40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8"/>
              </a:lnSpc>
            </a:pPr>
            <a:r>
              <a:rPr lang="en-US" sz="258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Accessibility Gap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18346" y="4019845"/>
            <a:ext cx="4854026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Students and non-technical users struggle to understand raw climate datasets without extensive training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92238" y="5519147"/>
            <a:ext cx="8051159" cy="2465041"/>
            <a:chOff x="0" y="0"/>
            <a:chExt cx="10734878" cy="328672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34929" cy="3286760"/>
            </a:xfrm>
            <a:custGeom>
              <a:avLst/>
              <a:gdLst/>
              <a:ahLst/>
              <a:cxnLst/>
              <a:rect r="r" b="b" t="t" l="l"/>
              <a:pathLst>
                <a:path h="3286760" w="10734929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10690225" y="0"/>
                  </a:lnTo>
                  <a:cubicBezTo>
                    <a:pt x="10714863" y="0"/>
                    <a:pt x="10734929" y="19939"/>
                    <a:pt x="10734929" y="44704"/>
                  </a:cubicBezTo>
                  <a:lnTo>
                    <a:pt x="10734929" y="3242056"/>
                  </a:lnTo>
                  <a:cubicBezTo>
                    <a:pt x="10734929" y="3266694"/>
                    <a:pt x="10714990" y="3286760"/>
                    <a:pt x="10690225" y="3286760"/>
                  </a:cubicBezTo>
                  <a:lnTo>
                    <a:pt x="44704" y="3286760"/>
                  </a:lnTo>
                  <a:cubicBezTo>
                    <a:pt x="20066" y="3286760"/>
                    <a:pt x="0" y="3266821"/>
                    <a:pt x="0" y="3242056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15476" y="5742384"/>
            <a:ext cx="669722" cy="669722"/>
            <a:chOff x="0" y="0"/>
            <a:chExt cx="892962" cy="89296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92937" cy="892937"/>
            </a:xfrm>
            <a:custGeom>
              <a:avLst/>
              <a:gdLst/>
              <a:ahLst/>
              <a:cxnLst/>
              <a:rect r="r" b="b" t="t" l="l"/>
              <a:pathLst>
                <a:path h="892937" w="892937">
                  <a:moveTo>
                    <a:pt x="0" y="446532"/>
                  </a:moveTo>
                  <a:cubicBezTo>
                    <a:pt x="0" y="199898"/>
                    <a:pt x="199898" y="0"/>
                    <a:pt x="446532" y="0"/>
                  </a:cubicBezTo>
                  <a:cubicBezTo>
                    <a:pt x="693166" y="0"/>
                    <a:pt x="892937" y="199898"/>
                    <a:pt x="892937" y="446532"/>
                  </a:cubicBezTo>
                  <a:cubicBezTo>
                    <a:pt x="892937" y="693166"/>
                    <a:pt x="693039" y="892937"/>
                    <a:pt x="446532" y="892937"/>
                  </a:cubicBezTo>
                  <a:cubicBezTo>
                    <a:pt x="200025" y="892937"/>
                    <a:pt x="0" y="693039"/>
                    <a:pt x="0" y="446532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1399584" y="5926484"/>
            <a:ext cx="301381" cy="301381"/>
          </a:xfrm>
          <a:custGeom>
            <a:avLst/>
            <a:gdLst/>
            <a:ahLst/>
            <a:cxnLst/>
            <a:rect r="r" b="b" t="t" l="l"/>
            <a:pathLst>
              <a:path h="301381" w="301381">
                <a:moveTo>
                  <a:pt x="0" y="0"/>
                </a:moveTo>
                <a:lnTo>
                  <a:pt x="301381" y="0"/>
                </a:lnTo>
                <a:lnTo>
                  <a:pt x="301381" y="301380"/>
                </a:lnTo>
                <a:lnTo>
                  <a:pt x="0" y="3013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938" r="0" b="-10935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215476" y="6593977"/>
            <a:ext cx="3175843" cy="40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8"/>
              </a:lnSpc>
            </a:pPr>
            <a:r>
              <a:rPr lang="en-US" sz="258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Regional Blindspots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5476" y="7025135"/>
            <a:ext cx="7604674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Policymakers lack clear, localized insights needed for effective environmental policy decisions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244308" y="5519147"/>
            <a:ext cx="8051302" cy="2465041"/>
            <a:chOff x="0" y="0"/>
            <a:chExt cx="10735069" cy="328672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35056" cy="3286760"/>
            </a:xfrm>
            <a:custGeom>
              <a:avLst/>
              <a:gdLst/>
              <a:ahLst/>
              <a:cxnLst/>
              <a:rect r="r" b="b" t="t" l="l"/>
              <a:pathLst>
                <a:path h="3286760" w="10735056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10690352" y="0"/>
                  </a:lnTo>
                  <a:cubicBezTo>
                    <a:pt x="10714990" y="0"/>
                    <a:pt x="10735056" y="19939"/>
                    <a:pt x="10735056" y="44704"/>
                  </a:cubicBezTo>
                  <a:lnTo>
                    <a:pt x="10735056" y="3242056"/>
                  </a:lnTo>
                  <a:cubicBezTo>
                    <a:pt x="10735056" y="3266694"/>
                    <a:pt x="10715117" y="3286760"/>
                    <a:pt x="10690352" y="3286760"/>
                  </a:cubicBezTo>
                  <a:lnTo>
                    <a:pt x="44704" y="3286760"/>
                  </a:lnTo>
                  <a:cubicBezTo>
                    <a:pt x="20066" y="3286760"/>
                    <a:pt x="0" y="3266821"/>
                    <a:pt x="0" y="3242056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467555" y="5742384"/>
            <a:ext cx="669722" cy="669722"/>
            <a:chOff x="0" y="0"/>
            <a:chExt cx="892962" cy="89296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92937" cy="892937"/>
            </a:xfrm>
            <a:custGeom>
              <a:avLst/>
              <a:gdLst/>
              <a:ahLst/>
              <a:cxnLst/>
              <a:rect r="r" b="b" t="t" l="l"/>
              <a:pathLst>
                <a:path h="892937" w="892937">
                  <a:moveTo>
                    <a:pt x="0" y="446532"/>
                  </a:moveTo>
                  <a:cubicBezTo>
                    <a:pt x="0" y="199898"/>
                    <a:pt x="199898" y="0"/>
                    <a:pt x="446532" y="0"/>
                  </a:cubicBezTo>
                  <a:cubicBezTo>
                    <a:pt x="693166" y="0"/>
                    <a:pt x="892937" y="199898"/>
                    <a:pt x="892937" y="446532"/>
                  </a:cubicBezTo>
                  <a:cubicBezTo>
                    <a:pt x="892937" y="693166"/>
                    <a:pt x="693039" y="892937"/>
                    <a:pt x="446532" y="892937"/>
                  </a:cubicBezTo>
                  <a:cubicBezTo>
                    <a:pt x="200025" y="892937"/>
                    <a:pt x="0" y="693039"/>
                    <a:pt x="0" y="446532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Freeform 40" id="40" descr="preencoded.png"/>
          <p:cNvSpPr/>
          <p:nvPr/>
        </p:nvSpPr>
        <p:spPr>
          <a:xfrm flipH="false" flipV="false" rot="0">
            <a:off x="9651654" y="5926484"/>
            <a:ext cx="301381" cy="301381"/>
          </a:xfrm>
          <a:custGeom>
            <a:avLst/>
            <a:gdLst/>
            <a:ahLst/>
            <a:cxnLst/>
            <a:rect r="r" b="b" t="t" l="l"/>
            <a:pathLst>
              <a:path h="301381" w="301381">
                <a:moveTo>
                  <a:pt x="0" y="0"/>
                </a:moveTo>
                <a:lnTo>
                  <a:pt x="301380" y="0"/>
                </a:lnTo>
                <a:lnTo>
                  <a:pt x="301380" y="301380"/>
                </a:lnTo>
                <a:lnTo>
                  <a:pt x="0" y="3013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6251" t="0" r="-6248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9467555" y="6593977"/>
            <a:ext cx="2756148" cy="40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8"/>
              </a:lnSpc>
            </a:pPr>
            <a:r>
              <a:rPr lang="en-US" sz="258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Limited Detection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467555" y="7025135"/>
            <a:ext cx="7604817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Environmental groups cannot detect climate anomalies and extreme events quickly enough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92238" y="8210255"/>
            <a:ext cx="16303523" cy="1227830"/>
            <a:chOff x="0" y="0"/>
            <a:chExt cx="21738031" cy="163710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738082" cy="1637157"/>
            </a:xfrm>
            <a:custGeom>
              <a:avLst/>
              <a:gdLst/>
              <a:ahLst/>
              <a:cxnLst/>
              <a:rect r="r" b="b" t="t" l="l"/>
              <a:pathLst>
                <a:path h="1637157" w="21738082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21693378" y="0"/>
                  </a:lnTo>
                  <a:cubicBezTo>
                    <a:pt x="21718017" y="0"/>
                    <a:pt x="21738082" y="19939"/>
                    <a:pt x="21738082" y="44704"/>
                  </a:cubicBezTo>
                  <a:lnTo>
                    <a:pt x="21738082" y="1592453"/>
                  </a:lnTo>
                  <a:cubicBezTo>
                    <a:pt x="21738082" y="1617091"/>
                    <a:pt x="21718143" y="1637157"/>
                    <a:pt x="21693378" y="1637157"/>
                  </a:cubicBezTo>
                  <a:lnTo>
                    <a:pt x="44704" y="1637157"/>
                  </a:lnTo>
                  <a:cubicBezTo>
                    <a:pt x="20066" y="1637157"/>
                    <a:pt x="0" y="1617218"/>
                    <a:pt x="0" y="1592453"/>
                  </a:cubicBezTo>
                  <a:close/>
                </a:path>
              </a:pathLst>
            </a:custGeom>
            <a:solidFill>
              <a:srgbClr val="2A2C2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15476" y="8532019"/>
            <a:ext cx="279054" cy="223247"/>
            <a:chOff x="0" y="0"/>
            <a:chExt cx="372072" cy="297663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372110" cy="297688"/>
            </a:xfrm>
            <a:custGeom>
              <a:avLst/>
              <a:gdLst/>
              <a:ahLst/>
              <a:cxnLst/>
              <a:rect r="r" b="b" t="t" l="l"/>
              <a:pathLst>
                <a:path h="297688" w="372110">
                  <a:moveTo>
                    <a:pt x="0" y="0"/>
                  </a:moveTo>
                  <a:lnTo>
                    <a:pt x="372110" y="0"/>
                  </a:lnTo>
                  <a:lnTo>
                    <a:pt x="372110" y="297688"/>
                  </a:lnTo>
                  <a:lnTo>
                    <a:pt x="0" y="297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433" t="0" r="-426" b="8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717777" y="8400307"/>
            <a:ext cx="15354748" cy="80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149" b="true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The Core Challenge:</a:t>
            </a:r>
            <a:r>
              <a:rPr lang="en-US" sz="2149">
                <a:solidFill>
                  <a:srgbClr val="FFFFFF"/>
                </a:solidFill>
                <a:latin typeface="Bitter"/>
                <a:ea typeface="Bitter"/>
                <a:cs typeface="Bitter"/>
                <a:sym typeface="Bitter"/>
              </a:rPr>
              <a:t> Climate data is incredibly powerful, but it's locked behind technical complexity that prevents widespread understanding and action.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87100" y="0"/>
            <a:ext cx="7200900" cy="10287000"/>
            <a:chOff x="0" y="0"/>
            <a:chExt cx="96012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724795"/>
            <a:ext cx="6066082" cy="73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Introducing ClimaSense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1714348"/>
            <a:ext cx="9445523" cy="107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85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ClimaSense converts complex climate datasets into an </a:t>
            </a:r>
            <a:r>
              <a:rPr lang="en-US" sz="1850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AI-powered exploration platform</a:t>
            </a:r>
            <a:r>
              <a:rPr lang="en-US" sz="185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that helps anyone understand climate trends, detect anomalies, and make informed decisions—without requiring technical expertise.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3006033"/>
            <a:ext cx="1116359" cy="1339606"/>
            <a:chOff x="0" y="0"/>
            <a:chExt cx="1488478" cy="1786141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488440" cy="1786128"/>
            </a:xfrm>
            <a:custGeom>
              <a:avLst/>
              <a:gdLst/>
              <a:ahLst/>
              <a:cxnLst/>
              <a:rect r="r" b="b" t="t" l="l"/>
              <a:pathLst>
                <a:path h="1786128" w="1488440">
                  <a:moveTo>
                    <a:pt x="0" y="0"/>
                  </a:moveTo>
                  <a:lnTo>
                    <a:pt x="1488440" y="0"/>
                  </a:lnTo>
                  <a:lnTo>
                    <a:pt x="1488440" y="1786128"/>
                  </a:lnTo>
                  <a:lnTo>
                    <a:pt x="0" y="1786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14" r="-2" b="-21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09517" y="3210220"/>
            <a:ext cx="2088952" cy="381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38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Data Ingestion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09517" y="3650904"/>
            <a:ext cx="8128244" cy="386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Upload and read NetCDF climate datasets with simple drag-and-drop interface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2238" y="4345629"/>
            <a:ext cx="1116359" cy="1339606"/>
            <a:chOff x="0" y="0"/>
            <a:chExt cx="1488478" cy="1786141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488440" cy="1786128"/>
            </a:xfrm>
            <a:custGeom>
              <a:avLst/>
              <a:gdLst/>
              <a:ahLst/>
              <a:cxnLst/>
              <a:rect r="r" b="b" t="t" l="l"/>
              <a:pathLst>
                <a:path h="1786128" w="1488440">
                  <a:moveTo>
                    <a:pt x="0" y="0"/>
                  </a:moveTo>
                  <a:lnTo>
                    <a:pt x="1488440" y="0"/>
                  </a:lnTo>
                  <a:lnTo>
                    <a:pt x="1488440" y="1786128"/>
                  </a:lnTo>
                  <a:lnTo>
                    <a:pt x="0" y="1786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14" r="-2" b="-215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309517" y="4549826"/>
            <a:ext cx="2578150" cy="381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38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Smart Processing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09517" y="4990509"/>
            <a:ext cx="8128244" cy="386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Python and Xarray process large climate data efficiently in the background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2238" y="5685234"/>
            <a:ext cx="1116359" cy="1339606"/>
            <a:chOff x="0" y="0"/>
            <a:chExt cx="1488478" cy="1786141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488440" cy="1786128"/>
            </a:xfrm>
            <a:custGeom>
              <a:avLst/>
              <a:gdLst/>
              <a:ahLst/>
              <a:cxnLst/>
              <a:rect r="r" b="b" t="t" l="l"/>
              <a:pathLst>
                <a:path h="1786128" w="1488440">
                  <a:moveTo>
                    <a:pt x="0" y="0"/>
                  </a:moveTo>
                  <a:lnTo>
                    <a:pt x="1488440" y="0"/>
                  </a:lnTo>
                  <a:lnTo>
                    <a:pt x="1488440" y="1786128"/>
                  </a:lnTo>
                  <a:lnTo>
                    <a:pt x="0" y="1786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14" r="-2" b="-215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309517" y="5889422"/>
            <a:ext cx="3454152" cy="381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38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Interactive Visualization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09517" y="6330105"/>
            <a:ext cx="8128244" cy="386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Explore data through interactive maps, time series charts, and heatmaps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2238" y="7024840"/>
            <a:ext cx="1116359" cy="1594399"/>
            <a:chOff x="0" y="0"/>
            <a:chExt cx="1488478" cy="212586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488440" cy="2125853"/>
            </a:xfrm>
            <a:custGeom>
              <a:avLst/>
              <a:gdLst/>
              <a:ahLst/>
              <a:cxnLst/>
              <a:rect r="r" b="b" t="t" l="l"/>
              <a:pathLst>
                <a:path h="2125853" w="1488440">
                  <a:moveTo>
                    <a:pt x="0" y="0"/>
                  </a:moveTo>
                  <a:lnTo>
                    <a:pt x="1488440" y="0"/>
                  </a:lnTo>
                  <a:lnTo>
                    <a:pt x="1488440" y="2125853"/>
                  </a:lnTo>
                  <a:lnTo>
                    <a:pt x="0" y="212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9" t="0" r="-33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309517" y="7229027"/>
            <a:ext cx="1549747" cy="381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38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AI Insights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309517" y="7669711"/>
            <a:ext cx="8128244" cy="726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Detect anomalies, identify patterns, and predict climate trends using machine learning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2238" y="8797681"/>
            <a:ext cx="9445523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85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Our platform bridges the gap between raw climate data and actionable intelligence, making environmental insights accessible to everyone from students to policymakers.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393622"/>
            <a:ext cx="11407826" cy="84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9"/>
              </a:lnSpc>
            </a:pPr>
            <a:r>
              <a:rPr lang="en-US" sz="5274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Powerful Climate Intelligence Tools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626671"/>
            <a:ext cx="16303523" cy="88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22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ClimaSense provides a comprehensive suite of features designed to transform how users interact with climate data. From global mapping to predictive analytics, every tool is built with simplicity and power in mind.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785292"/>
            <a:ext cx="2229002" cy="2229002"/>
            <a:chOff x="0" y="0"/>
            <a:chExt cx="2972003" cy="2972003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972054" cy="2972054"/>
            </a:xfrm>
            <a:custGeom>
              <a:avLst/>
              <a:gdLst/>
              <a:ahLst/>
              <a:cxnLst/>
              <a:rect r="r" b="b" t="t" l="l"/>
              <a:pathLst>
                <a:path h="2972054" w="2972054">
                  <a:moveTo>
                    <a:pt x="0" y="0"/>
                  </a:moveTo>
                  <a:lnTo>
                    <a:pt x="2972054" y="0"/>
                  </a:lnTo>
                  <a:lnTo>
                    <a:pt x="2972054" y="2972054"/>
                  </a:lnTo>
                  <a:lnTo>
                    <a:pt x="0" y="2972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6295730"/>
            <a:ext cx="3670102" cy="40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5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Global Climate Mapping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784629"/>
            <a:ext cx="3843338" cy="2060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Explore interactive maps displaying temperature, rainfall, wind patterns, and other climate variables across the entire globe with real-time data layers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45586" y="3785292"/>
            <a:ext cx="2229002" cy="2229002"/>
            <a:chOff x="0" y="0"/>
            <a:chExt cx="2972003" cy="2972003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972054" cy="2972054"/>
            </a:xfrm>
            <a:custGeom>
              <a:avLst/>
              <a:gdLst/>
              <a:ahLst/>
              <a:cxnLst/>
              <a:rect r="r" b="b" t="t" l="l"/>
              <a:pathLst>
                <a:path h="2972054" w="2972054">
                  <a:moveTo>
                    <a:pt x="0" y="0"/>
                  </a:moveTo>
                  <a:lnTo>
                    <a:pt x="2972054" y="0"/>
                  </a:lnTo>
                  <a:lnTo>
                    <a:pt x="2972054" y="2972054"/>
                  </a:lnTo>
                  <a:lnTo>
                    <a:pt x="0" y="2972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45586" y="6295730"/>
            <a:ext cx="2310110" cy="40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5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Trend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45586" y="6784629"/>
            <a:ext cx="3843338" cy="2060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Visualize climate patterns across months, years, or decades with intuitive time-series charts that reveal long-term trends and seasonal variations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98934" y="3785292"/>
            <a:ext cx="2229002" cy="2229002"/>
            <a:chOff x="0" y="0"/>
            <a:chExt cx="2972003" cy="2972003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2972054" cy="2972054"/>
            </a:xfrm>
            <a:custGeom>
              <a:avLst/>
              <a:gdLst/>
              <a:ahLst/>
              <a:cxnLst/>
              <a:rect r="r" b="b" t="t" l="l"/>
              <a:pathLst>
                <a:path h="2972054" w="2972054">
                  <a:moveTo>
                    <a:pt x="0" y="0"/>
                  </a:moveTo>
                  <a:lnTo>
                    <a:pt x="2972054" y="0"/>
                  </a:lnTo>
                  <a:lnTo>
                    <a:pt x="2972054" y="2972054"/>
                  </a:lnTo>
                  <a:lnTo>
                    <a:pt x="0" y="2972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298934" y="6295730"/>
            <a:ext cx="2918520" cy="40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5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Anomaly Detection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98934" y="6784629"/>
            <a:ext cx="3843338" cy="2060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AI-powered system automatically identifies unusual climate events, extreme weather patterns, and deviations from historical norms in seconds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452272" y="3785292"/>
            <a:ext cx="2229145" cy="2229145"/>
            <a:chOff x="0" y="0"/>
            <a:chExt cx="2972194" cy="2972194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2972181" cy="2972181"/>
            </a:xfrm>
            <a:custGeom>
              <a:avLst/>
              <a:gdLst/>
              <a:ahLst/>
              <a:cxnLst/>
              <a:rect r="r" b="b" t="t" l="l"/>
              <a:pathLst>
                <a:path h="2972181" w="2972181">
                  <a:moveTo>
                    <a:pt x="0" y="0"/>
                  </a:moveTo>
                  <a:lnTo>
                    <a:pt x="2972181" y="0"/>
                  </a:lnTo>
                  <a:lnTo>
                    <a:pt x="2972181" y="2972181"/>
                  </a:lnTo>
                  <a:lnTo>
                    <a:pt x="0" y="2972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452272" y="6295873"/>
            <a:ext cx="3043982" cy="40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5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Predictive Modeling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52272" y="6784772"/>
            <a:ext cx="3843490" cy="2060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Machine learning algorithms forecast potential future climate trends based on historical data, helping users plan for climate scenarios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087100" y="0"/>
            <a:ext cx="7200900" cy="10287000"/>
            <a:chOff x="0" y="0"/>
            <a:chExt cx="96012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497" r="0" b="-349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2665962"/>
            <a:ext cx="9445523" cy="28575"/>
            <a:chOff x="0" y="0"/>
            <a:chExt cx="12594031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94082" cy="38100"/>
            </a:xfrm>
            <a:custGeom>
              <a:avLst/>
              <a:gdLst/>
              <a:ahLst/>
              <a:cxnLst/>
              <a:rect r="r" b="b" t="t" l="l"/>
              <a:pathLst>
                <a:path h="38100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238" y="4129240"/>
            <a:ext cx="9445523" cy="28575"/>
            <a:chOff x="0" y="0"/>
            <a:chExt cx="12594031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94082" cy="38100"/>
            </a:xfrm>
            <a:custGeom>
              <a:avLst/>
              <a:gdLst/>
              <a:ahLst/>
              <a:cxnLst/>
              <a:rect r="r" b="b" t="t" l="l"/>
              <a:pathLst>
                <a:path h="38100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92238" y="5878268"/>
            <a:ext cx="9445523" cy="28575"/>
            <a:chOff x="0" y="0"/>
            <a:chExt cx="12594031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94082" cy="38100"/>
            </a:xfrm>
            <a:custGeom>
              <a:avLst/>
              <a:gdLst/>
              <a:ahLst/>
              <a:cxnLst/>
              <a:rect r="r" b="b" t="t" l="l"/>
              <a:pathLst>
                <a:path h="38100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92238" y="7341546"/>
            <a:ext cx="9445523" cy="28575"/>
            <a:chOff x="0" y="0"/>
            <a:chExt cx="12594031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94082" cy="38100"/>
            </a:xfrm>
            <a:custGeom>
              <a:avLst/>
              <a:gdLst/>
              <a:ahLst/>
              <a:cxnLst/>
              <a:rect r="r" b="b" t="t" l="l"/>
              <a:pathLst>
                <a:path h="38100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92238" y="8516245"/>
            <a:ext cx="10094862" cy="1021709"/>
            <a:chOff x="0" y="0"/>
            <a:chExt cx="13459816" cy="13622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59867" cy="1362329"/>
            </a:xfrm>
            <a:custGeom>
              <a:avLst/>
              <a:gdLst/>
              <a:ahLst/>
              <a:cxnLst/>
              <a:rect r="r" b="b" t="t" l="l"/>
              <a:pathLst>
                <a:path h="1362329" w="13459867">
                  <a:moveTo>
                    <a:pt x="0" y="39751"/>
                  </a:moveTo>
                  <a:cubicBezTo>
                    <a:pt x="0" y="17780"/>
                    <a:pt x="19002" y="0"/>
                    <a:pt x="42484" y="0"/>
                  </a:cubicBezTo>
                  <a:lnTo>
                    <a:pt x="13417387" y="0"/>
                  </a:lnTo>
                  <a:cubicBezTo>
                    <a:pt x="13440868" y="0"/>
                    <a:pt x="13459867" y="17780"/>
                    <a:pt x="13459867" y="39751"/>
                  </a:cubicBezTo>
                  <a:lnTo>
                    <a:pt x="13459867" y="1322578"/>
                  </a:lnTo>
                  <a:cubicBezTo>
                    <a:pt x="13459867" y="1344549"/>
                    <a:pt x="13440868" y="1362329"/>
                    <a:pt x="13417387" y="1362329"/>
                  </a:cubicBezTo>
                  <a:lnTo>
                    <a:pt x="42484" y="1362329"/>
                  </a:lnTo>
                  <a:cubicBezTo>
                    <a:pt x="19002" y="1362329"/>
                    <a:pt x="0" y="1344549"/>
                    <a:pt x="0" y="1322578"/>
                  </a:cubicBezTo>
                  <a:close/>
                </a:path>
              </a:pathLst>
            </a:custGeom>
            <a:solidFill>
              <a:srgbClr val="2A2C2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90625" y="8790537"/>
            <a:ext cx="247945" cy="198387"/>
            <a:chOff x="0" y="0"/>
            <a:chExt cx="330594" cy="264516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330581" cy="264541"/>
            </a:xfrm>
            <a:custGeom>
              <a:avLst/>
              <a:gdLst/>
              <a:ahLst/>
              <a:cxnLst/>
              <a:rect r="r" b="b" t="t" l="l"/>
              <a:pathLst>
                <a:path h="264541" w="330581">
                  <a:moveTo>
                    <a:pt x="0" y="0"/>
                  </a:moveTo>
                  <a:lnTo>
                    <a:pt x="330581" y="0"/>
                  </a:lnTo>
                  <a:lnTo>
                    <a:pt x="330581" y="264541"/>
                  </a:lnTo>
                  <a:lnTo>
                    <a:pt x="0" y="264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75" r="-3" b="-46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92238" y="710956"/>
            <a:ext cx="8023771" cy="68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8"/>
              </a:lnSpc>
            </a:pPr>
            <a:r>
              <a:rPr lang="en-US" sz="4274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Actionable Climate Intelligence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238" y="1569244"/>
            <a:ext cx="9445523" cy="613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7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ClimaSense transforms raw climate data into instant insights through an intuitive, user-friendly interface that requires no manual processing or technical expertise.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2290763"/>
            <a:ext cx="248989" cy="32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762">
                <a:solidFill>
                  <a:srgbClr val="C2C4B5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2238" y="2793654"/>
            <a:ext cx="2480815" cy="33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Select Location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2238" y="3198914"/>
            <a:ext cx="9445523" cy="30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1"/>
              </a:lnSpc>
            </a:pPr>
            <a:r>
              <a:rPr lang="en-US" sz="18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Choose any location on the interactive world map using search or direct selection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2238" y="3754041"/>
            <a:ext cx="248989" cy="32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762">
                <a:solidFill>
                  <a:srgbClr val="C2C4B5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4256932"/>
            <a:ext cx="2480815" cy="33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Choose Metrics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2238" y="4643142"/>
            <a:ext cx="9445523" cy="692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19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Switch between temperature, rainfall, wind speed, humidity, and other climate variables with single-click controls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2238" y="5503069"/>
            <a:ext cx="248989" cy="32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762">
                <a:solidFill>
                  <a:srgbClr val="C2C4B5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2238" y="6005960"/>
            <a:ext cx="2480815" cy="33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Set Time Period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2238" y="6411220"/>
            <a:ext cx="9445523" cy="638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1"/>
              </a:lnSpc>
            </a:pPr>
            <a:r>
              <a:rPr lang="en-US" sz="18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Select specific months, years, or custom date ranges for historical or current analysis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2238" y="6966347"/>
            <a:ext cx="248989" cy="32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762">
                <a:solidFill>
                  <a:srgbClr val="C2C4B5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2238" y="7469238"/>
            <a:ext cx="2480815" cy="33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Generate Report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92238" y="7874498"/>
            <a:ext cx="9936559" cy="273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4"/>
              </a:lnSpc>
            </a:pPr>
            <a:r>
              <a:rPr lang="en-US" sz="16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Export professional-quality reports with charts, maps, and insights instantly in multiple formats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36957" y="8695877"/>
            <a:ext cx="9450143" cy="65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1"/>
              </a:lnSpc>
            </a:pPr>
            <a:r>
              <a:rPr lang="en-US" sz="1862" b="true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Key Benefit:</a:t>
            </a:r>
            <a:r>
              <a:rPr lang="en-US" sz="1862">
                <a:solidFill>
                  <a:srgbClr val="FFFFFF"/>
                </a:solidFill>
                <a:latin typeface="Bitter"/>
                <a:ea typeface="Bitter"/>
                <a:cs typeface="Bitter"/>
                <a:sym typeface="Bitter"/>
              </a:rPr>
              <a:t> No manual data processing required. Get climate insights in seconds instead of weeks, enabling faster decision-making and immediate action.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83320"/>
            <a:ext cx="7804242" cy="79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2"/>
              </a:lnSpc>
            </a:pPr>
            <a:r>
              <a:rPr lang="en-US" sz="4924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Who Can Use ClimaSense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19742"/>
            <a:ext cx="16303523" cy="87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3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Our platform serves diverse users across different sectors, each benefiting from simplified access to complex climate intelligence.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2925518"/>
            <a:ext cx="8039843" cy="3007814"/>
            <a:chOff x="0" y="0"/>
            <a:chExt cx="10719791" cy="40104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19816" cy="4010406"/>
            </a:xfrm>
            <a:custGeom>
              <a:avLst/>
              <a:gdLst/>
              <a:ahLst/>
              <a:cxnLst/>
              <a:rect r="r" b="b" t="t" l="l"/>
              <a:pathLst>
                <a:path h="4010406" w="10719816">
                  <a:moveTo>
                    <a:pt x="0" y="47117"/>
                  </a:moveTo>
                  <a:cubicBezTo>
                    <a:pt x="0" y="21082"/>
                    <a:pt x="21082" y="0"/>
                    <a:pt x="47117" y="0"/>
                  </a:cubicBezTo>
                  <a:lnTo>
                    <a:pt x="10672699" y="0"/>
                  </a:lnTo>
                  <a:cubicBezTo>
                    <a:pt x="10698734" y="0"/>
                    <a:pt x="10719816" y="21082"/>
                    <a:pt x="10719816" y="47117"/>
                  </a:cubicBezTo>
                  <a:lnTo>
                    <a:pt x="10719816" y="3963289"/>
                  </a:lnTo>
                  <a:cubicBezTo>
                    <a:pt x="10719816" y="3989324"/>
                    <a:pt x="10698734" y="4010406"/>
                    <a:pt x="10672699" y="4010406"/>
                  </a:cubicBezTo>
                  <a:lnTo>
                    <a:pt x="47117" y="4010406"/>
                  </a:lnTo>
                  <a:cubicBezTo>
                    <a:pt x="21082" y="4010406"/>
                    <a:pt x="0" y="3989324"/>
                    <a:pt x="0" y="3963289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27830" y="3161109"/>
            <a:ext cx="706936" cy="706936"/>
            <a:chOff x="0" y="0"/>
            <a:chExt cx="942581" cy="9425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2594" cy="942594"/>
            </a:xfrm>
            <a:custGeom>
              <a:avLst/>
              <a:gdLst/>
              <a:ahLst/>
              <a:cxnLst/>
              <a:rect r="r" b="b" t="t" l="l"/>
              <a:pathLst>
                <a:path h="942594" w="942594">
                  <a:moveTo>
                    <a:pt x="0" y="471297"/>
                  </a:moveTo>
                  <a:cubicBezTo>
                    <a:pt x="0" y="210947"/>
                    <a:pt x="210947" y="0"/>
                    <a:pt x="471297" y="0"/>
                  </a:cubicBezTo>
                  <a:cubicBezTo>
                    <a:pt x="731647" y="0"/>
                    <a:pt x="942594" y="210947"/>
                    <a:pt x="942594" y="471297"/>
                  </a:cubicBezTo>
                  <a:cubicBezTo>
                    <a:pt x="942594" y="731647"/>
                    <a:pt x="731520" y="942594"/>
                    <a:pt x="471297" y="942594"/>
                  </a:cubicBezTo>
                  <a:cubicBezTo>
                    <a:pt x="211074" y="942594"/>
                    <a:pt x="0" y="731520"/>
                    <a:pt x="0" y="471297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422197" y="3355477"/>
            <a:ext cx="318049" cy="318049"/>
          </a:xfrm>
          <a:custGeom>
            <a:avLst/>
            <a:gdLst/>
            <a:ahLst/>
            <a:cxnLst/>
            <a:rect r="r" b="b" t="t" l="l"/>
            <a:pathLst>
              <a:path h="318049" w="318049">
                <a:moveTo>
                  <a:pt x="0" y="0"/>
                </a:moveTo>
                <a:lnTo>
                  <a:pt x="318049" y="0"/>
                </a:lnTo>
                <a:lnTo>
                  <a:pt x="318049" y="318049"/>
                </a:lnTo>
                <a:lnTo>
                  <a:pt x="0" y="318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27830" y="4063308"/>
            <a:ext cx="366653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Researchers &amp; Scientists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7830" y="4527794"/>
            <a:ext cx="7568651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Accelerate climate analysis with faster data processing, automated extraction, and AI-powered pattern recognition. Spend less time on data wrangling and more time on breakthrough discoveries.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55919" y="2925518"/>
            <a:ext cx="8039843" cy="3007814"/>
            <a:chOff x="0" y="0"/>
            <a:chExt cx="10719791" cy="40104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19816" cy="4010406"/>
            </a:xfrm>
            <a:custGeom>
              <a:avLst/>
              <a:gdLst/>
              <a:ahLst/>
              <a:cxnLst/>
              <a:rect r="r" b="b" t="t" l="l"/>
              <a:pathLst>
                <a:path h="4010406" w="10719816">
                  <a:moveTo>
                    <a:pt x="0" y="47117"/>
                  </a:moveTo>
                  <a:cubicBezTo>
                    <a:pt x="0" y="21082"/>
                    <a:pt x="21082" y="0"/>
                    <a:pt x="47117" y="0"/>
                  </a:cubicBezTo>
                  <a:lnTo>
                    <a:pt x="10672699" y="0"/>
                  </a:lnTo>
                  <a:cubicBezTo>
                    <a:pt x="10698734" y="0"/>
                    <a:pt x="10719816" y="21082"/>
                    <a:pt x="10719816" y="47117"/>
                  </a:cubicBezTo>
                  <a:lnTo>
                    <a:pt x="10719816" y="3963289"/>
                  </a:lnTo>
                  <a:cubicBezTo>
                    <a:pt x="10719816" y="3989324"/>
                    <a:pt x="10698734" y="4010406"/>
                    <a:pt x="10672699" y="4010406"/>
                  </a:cubicBezTo>
                  <a:lnTo>
                    <a:pt x="47117" y="4010406"/>
                  </a:lnTo>
                  <a:cubicBezTo>
                    <a:pt x="21082" y="4010406"/>
                    <a:pt x="0" y="3989324"/>
                    <a:pt x="0" y="3963289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491510" y="3161109"/>
            <a:ext cx="706936" cy="706936"/>
            <a:chOff x="0" y="0"/>
            <a:chExt cx="942581" cy="94258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2594" cy="942594"/>
            </a:xfrm>
            <a:custGeom>
              <a:avLst/>
              <a:gdLst/>
              <a:ahLst/>
              <a:cxnLst/>
              <a:rect r="r" b="b" t="t" l="l"/>
              <a:pathLst>
                <a:path h="942594" w="942594">
                  <a:moveTo>
                    <a:pt x="0" y="471297"/>
                  </a:moveTo>
                  <a:cubicBezTo>
                    <a:pt x="0" y="210947"/>
                    <a:pt x="210947" y="0"/>
                    <a:pt x="471297" y="0"/>
                  </a:cubicBezTo>
                  <a:cubicBezTo>
                    <a:pt x="731647" y="0"/>
                    <a:pt x="942594" y="210947"/>
                    <a:pt x="942594" y="471297"/>
                  </a:cubicBezTo>
                  <a:cubicBezTo>
                    <a:pt x="942594" y="731647"/>
                    <a:pt x="731520" y="942594"/>
                    <a:pt x="471297" y="942594"/>
                  </a:cubicBezTo>
                  <a:cubicBezTo>
                    <a:pt x="211074" y="942594"/>
                    <a:pt x="0" y="731520"/>
                    <a:pt x="0" y="471297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9685887" y="3355477"/>
            <a:ext cx="318049" cy="318049"/>
          </a:xfrm>
          <a:custGeom>
            <a:avLst/>
            <a:gdLst/>
            <a:ahLst/>
            <a:cxnLst/>
            <a:rect r="r" b="b" t="t" l="l"/>
            <a:pathLst>
              <a:path h="318049" w="318049">
                <a:moveTo>
                  <a:pt x="0" y="0"/>
                </a:moveTo>
                <a:lnTo>
                  <a:pt x="318049" y="0"/>
                </a:lnTo>
                <a:lnTo>
                  <a:pt x="318049" y="318049"/>
                </a:lnTo>
                <a:lnTo>
                  <a:pt x="0" y="318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940" t="0" r="-294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491510" y="4063308"/>
            <a:ext cx="3821011" cy="39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Policymakers &amp; Government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91510" y="4527794"/>
            <a:ext cx="7568651" cy="1169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Access clear, localized climate insights for developing effective environmental policies, disaster preparedness plans, and long-term sustainability initiatives backed by data.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2238" y="6157170"/>
            <a:ext cx="8039843" cy="3007814"/>
            <a:chOff x="0" y="0"/>
            <a:chExt cx="10719791" cy="40104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19816" cy="4010406"/>
            </a:xfrm>
            <a:custGeom>
              <a:avLst/>
              <a:gdLst/>
              <a:ahLst/>
              <a:cxnLst/>
              <a:rect r="r" b="b" t="t" l="l"/>
              <a:pathLst>
                <a:path h="4010406" w="10719816">
                  <a:moveTo>
                    <a:pt x="0" y="47117"/>
                  </a:moveTo>
                  <a:cubicBezTo>
                    <a:pt x="0" y="21082"/>
                    <a:pt x="21082" y="0"/>
                    <a:pt x="47117" y="0"/>
                  </a:cubicBezTo>
                  <a:lnTo>
                    <a:pt x="10672699" y="0"/>
                  </a:lnTo>
                  <a:cubicBezTo>
                    <a:pt x="10698734" y="0"/>
                    <a:pt x="10719816" y="21082"/>
                    <a:pt x="10719816" y="47117"/>
                  </a:cubicBezTo>
                  <a:lnTo>
                    <a:pt x="10719816" y="3963289"/>
                  </a:lnTo>
                  <a:cubicBezTo>
                    <a:pt x="10719816" y="3989324"/>
                    <a:pt x="10698734" y="4010406"/>
                    <a:pt x="10672699" y="4010406"/>
                  </a:cubicBezTo>
                  <a:lnTo>
                    <a:pt x="47117" y="4010406"/>
                  </a:lnTo>
                  <a:cubicBezTo>
                    <a:pt x="21082" y="4010406"/>
                    <a:pt x="0" y="3989324"/>
                    <a:pt x="0" y="3963289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27830" y="6392761"/>
            <a:ext cx="706936" cy="706936"/>
            <a:chOff x="0" y="0"/>
            <a:chExt cx="942581" cy="94258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42594" cy="942594"/>
            </a:xfrm>
            <a:custGeom>
              <a:avLst/>
              <a:gdLst/>
              <a:ahLst/>
              <a:cxnLst/>
              <a:rect r="r" b="b" t="t" l="l"/>
              <a:pathLst>
                <a:path h="942594" w="942594">
                  <a:moveTo>
                    <a:pt x="0" y="471297"/>
                  </a:moveTo>
                  <a:cubicBezTo>
                    <a:pt x="0" y="210947"/>
                    <a:pt x="210947" y="0"/>
                    <a:pt x="471297" y="0"/>
                  </a:cubicBezTo>
                  <a:cubicBezTo>
                    <a:pt x="731647" y="0"/>
                    <a:pt x="942594" y="210947"/>
                    <a:pt x="942594" y="471297"/>
                  </a:cubicBezTo>
                  <a:cubicBezTo>
                    <a:pt x="942594" y="731647"/>
                    <a:pt x="731520" y="942594"/>
                    <a:pt x="471297" y="942594"/>
                  </a:cubicBezTo>
                  <a:cubicBezTo>
                    <a:pt x="211074" y="942594"/>
                    <a:pt x="0" y="731520"/>
                    <a:pt x="0" y="471297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422197" y="6587128"/>
            <a:ext cx="318049" cy="318049"/>
          </a:xfrm>
          <a:custGeom>
            <a:avLst/>
            <a:gdLst/>
            <a:ahLst/>
            <a:cxnLst/>
            <a:rect r="r" b="b" t="t" l="l"/>
            <a:pathLst>
              <a:path h="318049" w="318049">
                <a:moveTo>
                  <a:pt x="0" y="0"/>
                </a:moveTo>
                <a:lnTo>
                  <a:pt x="318049" y="0"/>
                </a:lnTo>
                <a:lnTo>
                  <a:pt x="318049" y="318049"/>
                </a:lnTo>
                <a:lnTo>
                  <a:pt x="0" y="3180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7645" r="0" b="-17648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27830" y="7294959"/>
            <a:ext cx="2946054" cy="39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Students &amp; Educators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7830" y="7625210"/>
            <a:ext cx="7568651" cy="1169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Learn climate science through interactive, real-world data exploration. Visual tools make complex concepts accessible, fostering deeper understanding and engagement in environmental studies.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55919" y="6157170"/>
            <a:ext cx="8039843" cy="3007814"/>
            <a:chOff x="0" y="0"/>
            <a:chExt cx="10719791" cy="40104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19816" cy="4010406"/>
            </a:xfrm>
            <a:custGeom>
              <a:avLst/>
              <a:gdLst/>
              <a:ahLst/>
              <a:cxnLst/>
              <a:rect r="r" b="b" t="t" l="l"/>
              <a:pathLst>
                <a:path h="4010406" w="10719816">
                  <a:moveTo>
                    <a:pt x="0" y="47117"/>
                  </a:moveTo>
                  <a:cubicBezTo>
                    <a:pt x="0" y="21082"/>
                    <a:pt x="21082" y="0"/>
                    <a:pt x="47117" y="0"/>
                  </a:cubicBezTo>
                  <a:lnTo>
                    <a:pt x="10672699" y="0"/>
                  </a:lnTo>
                  <a:cubicBezTo>
                    <a:pt x="10698734" y="0"/>
                    <a:pt x="10719816" y="21082"/>
                    <a:pt x="10719816" y="47117"/>
                  </a:cubicBezTo>
                  <a:lnTo>
                    <a:pt x="10719816" y="3963289"/>
                  </a:lnTo>
                  <a:cubicBezTo>
                    <a:pt x="10719816" y="3989324"/>
                    <a:pt x="10698734" y="4010406"/>
                    <a:pt x="10672699" y="4010406"/>
                  </a:cubicBezTo>
                  <a:lnTo>
                    <a:pt x="47117" y="4010406"/>
                  </a:lnTo>
                  <a:cubicBezTo>
                    <a:pt x="21082" y="4010406"/>
                    <a:pt x="0" y="3989324"/>
                    <a:pt x="0" y="3963289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491510" y="6392761"/>
            <a:ext cx="706936" cy="706936"/>
            <a:chOff x="0" y="0"/>
            <a:chExt cx="942581" cy="942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42594" cy="942594"/>
            </a:xfrm>
            <a:custGeom>
              <a:avLst/>
              <a:gdLst/>
              <a:ahLst/>
              <a:cxnLst/>
              <a:rect r="r" b="b" t="t" l="l"/>
              <a:pathLst>
                <a:path h="942594" w="942594">
                  <a:moveTo>
                    <a:pt x="0" y="471297"/>
                  </a:moveTo>
                  <a:cubicBezTo>
                    <a:pt x="0" y="210947"/>
                    <a:pt x="210947" y="0"/>
                    <a:pt x="471297" y="0"/>
                  </a:cubicBezTo>
                  <a:cubicBezTo>
                    <a:pt x="731647" y="0"/>
                    <a:pt x="942594" y="210947"/>
                    <a:pt x="942594" y="471297"/>
                  </a:cubicBezTo>
                  <a:cubicBezTo>
                    <a:pt x="942594" y="731647"/>
                    <a:pt x="731520" y="942594"/>
                    <a:pt x="471297" y="942594"/>
                  </a:cubicBezTo>
                  <a:cubicBezTo>
                    <a:pt x="211074" y="942594"/>
                    <a:pt x="0" y="731520"/>
                    <a:pt x="0" y="471297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9685887" y="6587128"/>
            <a:ext cx="318049" cy="318049"/>
          </a:xfrm>
          <a:custGeom>
            <a:avLst/>
            <a:gdLst/>
            <a:ahLst/>
            <a:cxnLst/>
            <a:rect r="r" b="b" t="t" l="l"/>
            <a:pathLst>
              <a:path h="318049" w="318049">
                <a:moveTo>
                  <a:pt x="0" y="0"/>
                </a:moveTo>
                <a:lnTo>
                  <a:pt x="318049" y="0"/>
                </a:lnTo>
                <a:lnTo>
                  <a:pt x="318049" y="318049"/>
                </a:lnTo>
                <a:lnTo>
                  <a:pt x="0" y="3180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491510" y="7294959"/>
            <a:ext cx="2946054" cy="39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Environmental NGOs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91510" y="7759456"/>
            <a:ext cx="7568651" cy="1169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Monitor climate risks, track environmental changes, and support conservation efforts with real-time data. Identify vulnerable regions and advocate for evidence-based environmental protection.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627192"/>
            <a:ext cx="3793331" cy="75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6"/>
              </a:lnSpc>
            </a:pPr>
            <a:r>
              <a:rPr lang="en-US" sz="4674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Future Vision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554840"/>
            <a:ext cx="16303523" cy="71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7"/>
              </a:lnSpc>
            </a:pPr>
            <a:r>
              <a:rPr lang="en-US" sz="21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We're continuously expanding ClimaSense's capabilities to provide even more comprehensive climate intelligence and real-time decision support.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52690" y="2572198"/>
            <a:ext cx="7830445" cy="173536"/>
            <a:chOff x="0" y="0"/>
            <a:chExt cx="10440594" cy="2313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0543" cy="231268"/>
            </a:xfrm>
            <a:custGeom>
              <a:avLst/>
              <a:gdLst/>
              <a:ahLst/>
              <a:cxnLst/>
              <a:rect r="r" b="b" t="t" l="l"/>
              <a:pathLst>
                <a:path h="231268" w="10440543">
                  <a:moveTo>
                    <a:pt x="0" y="34671"/>
                  </a:moveTo>
                  <a:cubicBezTo>
                    <a:pt x="0" y="15494"/>
                    <a:pt x="15494" y="0"/>
                    <a:pt x="34671" y="0"/>
                  </a:cubicBezTo>
                  <a:lnTo>
                    <a:pt x="10405872" y="0"/>
                  </a:lnTo>
                  <a:cubicBezTo>
                    <a:pt x="10425049" y="0"/>
                    <a:pt x="10440543" y="15494"/>
                    <a:pt x="10440543" y="34671"/>
                  </a:cubicBezTo>
                  <a:lnTo>
                    <a:pt x="10440543" y="196596"/>
                  </a:lnTo>
                  <a:cubicBezTo>
                    <a:pt x="10440543" y="215773"/>
                    <a:pt x="10425049" y="231267"/>
                    <a:pt x="10405872" y="231267"/>
                  </a:cubicBezTo>
                  <a:lnTo>
                    <a:pt x="34671" y="231267"/>
                  </a:lnTo>
                  <a:cubicBezTo>
                    <a:pt x="15494" y="231394"/>
                    <a:pt x="0" y="215773"/>
                    <a:pt x="0" y="196596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238" y="2398509"/>
            <a:ext cx="520903" cy="520903"/>
            <a:chOff x="0" y="0"/>
            <a:chExt cx="694538" cy="694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4563" cy="694563"/>
            </a:xfrm>
            <a:custGeom>
              <a:avLst/>
              <a:gdLst/>
              <a:ahLst/>
              <a:cxnLst/>
              <a:rect r="r" b="b" t="t" l="l"/>
              <a:pathLst>
                <a:path h="694563" w="694563">
                  <a:moveTo>
                    <a:pt x="0" y="347218"/>
                  </a:moveTo>
                  <a:cubicBezTo>
                    <a:pt x="0" y="155448"/>
                    <a:pt x="155448" y="0"/>
                    <a:pt x="347218" y="0"/>
                  </a:cubicBezTo>
                  <a:cubicBezTo>
                    <a:pt x="538988" y="0"/>
                    <a:pt x="694563" y="155448"/>
                    <a:pt x="694563" y="347218"/>
                  </a:cubicBezTo>
                  <a:cubicBezTo>
                    <a:pt x="694563" y="538988"/>
                    <a:pt x="539115" y="694563"/>
                    <a:pt x="347218" y="694563"/>
                  </a:cubicBezTo>
                  <a:cubicBezTo>
                    <a:pt x="155321" y="694563"/>
                    <a:pt x="0" y="539115"/>
                    <a:pt x="0" y="347218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122464" y="2528735"/>
            <a:ext cx="260452" cy="260452"/>
          </a:xfrm>
          <a:custGeom>
            <a:avLst/>
            <a:gdLst/>
            <a:ahLst/>
            <a:cxnLst/>
            <a:rect r="r" b="b" t="t" l="l"/>
            <a:pathLst>
              <a:path h="260452" w="260452">
                <a:moveTo>
                  <a:pt x="0" y="0"/>
                </a:moveTo>
                <a:lnTo>
                  <a:pt x="260452" y="0"/>
                </a:lnTo>
                <a:lnTo>
                  <a:pt x="260452" y="260452"/>
                </a:lnTo>
                <a:lnTo>
                  <a:pt x="0" y="2604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142" r="0" b="-7142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65774" y="3012281"/>
            <a:ext cx="3065711" cy="37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28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Automated AI Reports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5774" y="3483616"/>
            <a:ext cx="7743977" cy="93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2"/>
              </a:lnSpc>
            </a:pPr>
            <a:r>
              <a:rPr lang="en-US" sz="18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Instant climate insights and personalized recommendations generated automatically based on user-selected regions and time periods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65173" y="2311746"/>
            <a:ext cx="7830445" cy="173536"/>
            <a:chOff x="0" y="0"/>
            <a:chExt cx="10440594" cy="2313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40543" cy="231268"/>
            </a:xfrm>
            <a:custGeom>
              <a:avLst/>
              <a:gdLst/>
              <a:ahLst/>
              <a:cxnLst/>
              <a:rect r="r" b="b" t="t" l="l"/>
              <a:pathLst>
                <a:path h="231268" w="10440543">
                  <a:moveTo>
                    <a:pt x="0" y="34671"/>
                  </a:moveTo>
                  <a:cubicBezTo>
                    <a:pt x="0" y="15494"/>
                    <a:pt x="15494" y="0"/>
                    <a:pt x="34671" y="0"/>
                  </a:cubicBezTo>
                  <a:lnTo>
                    <a:pt x="10405872" y="0"/>
                  </a:lnTo>
                  <a:cubicBezTo>
                    <a:pt x="10425049" y="0"/>
                    <a:pt x="10440543" y="15494"/>
                    <a:pt x="10440543" y="34671"/>
                  </a:cubicBezTo>
                  <a:lnTo>
                    <a:pt x="10440543" y="196596"/>
                  </a:lnTo>
                  <a:cubicBezTo>
                    <a:pt x="10440543" y="215773"/>
                    <a:pt x="10425049" y="231267"/>
                    <a:pt x="10405872" y="231267"/>
                  </a:cubicBezTo>
                  <a:lnTo>
                    <a:pt x="34671" y="231267"/>
                  </a:lnTo>
                  <a:cubicBezTo>
                    <a:pt x="15494" y="231394"/>
                    <a:pt x="0" y="215773"/>
                    <a:pt x="0" y="196596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204722" y="2138067"/>
            <a:ext cx="520903" cy="520903"/>
            <a:chOff x="0" y="0"/>
            <a:chExt cx="694538" cy="6945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4563" cy="694563"/>
            </a:xfrm>
            <a:custGeom>
              <a:avLst/>
              <a:gdLst/>
              <a:ahLst/>
              <a:cxnLst/>
              <a:rect r="r" b="b" t="t" l="l"/>
              <a:pathLst>
                <a:path h="694563" w="694563">
                  <a:moveTo>
                    <a:pt x="0" y="347218"/>
                  </a:moveTo>
                  <a:cubicBezTo>
                    <a:pt x="0" y="155448"/>
                    <a:pt x="155448" y="0"/>
                    <a:pt x="347218" y="0"/>
                  </a:cubicBezTo>
                  <a:cubicBezTo>
                    <a:pt x="538988" y="0"/>
                    <a:pt x="694563" y="155448"/>
                    <a:pt x="694563" y="347218"/>
                  </a:cubicBezTo>
                  <a:cubicBezTo>
                    <a:pt x="694563" y="538988"/>
                    <a:pt x="539115" y="694563"/>
                    <a:pt x="347218" y="694563"/>
                  </a:cubicBezTo>
                  <a:cubicBezTo>
                    <a:pt x="155321" y="694563"/>
                    <a:pt x="0" y="539115"/>
                    <a:pt x="0" y="347218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9334948" y="2268293"/>
            <a:ext cx="260452" cy="260452"/>
          </a:xfrm>
          <a:custGeom>
            <a:avLst/>
            <a:gdLst/>
            <a:ahLst/>
            <a:cxnLst/>
            <a:rect r="r" b="b" t="t" l="l"/>
            <a:pathLst>
              <a:path h="260452" w="260452">
                <a:moveTo>
                  <a:pt x="0" y="0"/>
                </a:moveTo>
                <a:lnTo>
                  <a:pt x="260451" y="0"/>
                </a:lnTo>
                <a:lnTo>
                  <a:pt x="260451" y="260452"/>
                </a:lnTo>
                <a:lnTo>
                  <a:pt x="0" y="2604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5000" r="0" b="-24999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378258" y="2760612"/>
            <a:ext cx="2534096" cy="37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28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Live Hazard Alerts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78258" y="3308890"/>
            <a:ext cx="7743977" cy="62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2"/>
              </a:lnSpc>
            </a:pPr>
            <a:r>
              <a:rPr lang="en-US" sz="18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Real-time notifications for floods, heatwaves, droughts, and extreme weather events with predictive warnings and impact assessments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77093" y="4680214"/>
            <a:ext cx="7830445" cy="173536"/>
            <a:chOff x="0" y="0"/>
            <a:chExt cx="10440594" cy="23138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40543" cy="231268"/>
            </a:xfrm>
            <a:custGeom>
              <a:avLst/>
              <a:gdLst/>
              <a:ahLst/>
              <a:cxnLst/>
              <a:rect r="r" b="b" t="t" l="l"/>
              <a:pathLst>
                <a:path h="231268" w="10440543">
                  <a:moveTo>
                    <a:pt x="0" y="34671"/>
                  </a:moveTo>
                  <a:cubicBezTo>
                    <a:pt x="0" y="15494"/>
                    <a:pt x="15494" y="0"/>
                    <a:pt x="34671" y="0"/>
                  </a:cubicBezTo>
                  <a:lnTo>
                    <a:pt x="10405872" y="0"/>
                  </a:lnTo>
                  <a:cubicBezTo>
                    <a:pt x="10425049" y="0"/>
                    <a:pt x="10440543" y="15494"/>
                    <a:pt x="10440543" y="34671"/>
                  </a:cubicBezTo>
                  <a:lnTo>
                    <a:pt x="10440543" y="196596"/>
                  </a:lnTo>
                  <a:cubicBezTo>
                    <a:pt x="10440543" y="215773"/>
                    <a:pt x="10425049" y="231267"/>
                    <a:pt x="10405872" y="231267"/>
                  </a:cubicBezTo>
                  <a:lnTo>
                    <a:pt x="34671" y="231267"/>
                  </a:lnTo>
                  <a:cubicBezTo>
                    <a:pt x="15494" y="231394"/>
                    <a:pt x="0" y="215773"/>
                    <a:pt x="0" y="196596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92238" y="4499677"/>
            <a:ext cx="520903" cy="520903"/>
            <a:chOff x="0" y="0"/>
            <a:chExt cx="694538" cy="6945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4563" cy="694563"/>
            </a:xfrm>
            <a:custGeom>
              <a:avLst/>
              <a:gdLst/>
              <a:ahLst/>
              <a:cxnLst/>
              <a:rect r="r" b="b" t="t" l="l"/>
              <a:pathLst>
                <a:path h="694563" w="694563">
                  <a:moveTo>
                    <a:pt x="0" y="347218"/>
                  </a:moveTo>
                  <a:cubicBezTo>
                    <a:pt x="0" y="155448"/>
                    <a:pt x="155448" y="0"/>
                    <a:pt x="347218" y="0"/>
                  </a:cubicBezTo>
                  <a:cubicBezTo>
                    <a:pt x="538988" y="0"/>
                    <a:pt x="694563" y="155448"/>
                    <a:pt x="694563" y="347218"/>
                  </a:cubicBezTo>
                  <a:cubicBezTo>
                    <a:pt x="694563" y="538988"/>
                    <a:pt x="539115" y="694563"/>
                    <a:pt x="347218" y="694563"/>
                  </a:cubicBezTo>
                  <a:cubicBezTo>
                    <a:pt x="155321" y="694563"/>
                    <a:pt x="0" y="539115"/>
                    <a:pt x="0" y="347218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122464" y="4636756"/>
            <a:ext cx="260452" cy="260452"/>
          </a:xfrm>
          <a:custGeom>
            <a:avLst/>
            <a:gdLst/>
            <a:ahLst/>
            <a:cxnLst/>
            <a:rect r="r" b="b" t="t" l="l"/>
            <a:pathLst>
              <a:path h="260452" w="260452">
                <a:moveTo>
                  <a:pt x="0" y="0"/>
                </a:moveTo>
                <a:lnTo>
                  <a:pt x="260452" y="0"/>
                </a:lnTo>
                <a:lnTo>
                  <a:pt x="260452" y="260451"/>
                </a:lnTo>
                <a:lnTo>
                  <a:pt x="0" y="2604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0715" t="0" r="-10711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65774" y="5026666"/>
            <a:ext cx="3107978" cy="3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8"/>
              </a:lnSpc>
            </a:pPr>
            <a:r>
              <a:rPr lang="en-US" sz="208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Satellite Data Integration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5774" y="5536101"/>
            <a:ext cx="7743977" cy="99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19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Combine satellite imagery with climate datasets for comprehensive environmental monitoring and vegetation analysis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465173" y="4326141"/>
            <a:ext cx="7830445" cy="173536"/>
            <a:chOff x="0" y="0"/>
            <a:chExt cx="10440594" cy="23138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40543" cy="231268"/>
            </a:xfrm>
            <a:custGeom>
              <a:avLst/>
              <a:gdLst/>
              <a:ahLst/>
              <a:cxnLst/>
              <a:rect r="r" b="b" t="t" l="l"/>
              <a:pathLst>
                <a:path h="231268" w="10440543">
                  <a:moveTo>
                    <a:pt x="0" y="34671"/>
                  </a:moveTo>
                  <a:cubicBezTo>
                    <a:pt x="0" y="15494"/>
                    <a:pt x="15494" y="0"/>
                    <a:pt x="34671" y="0"/>
                  </a:cubicBezTo>
                  <a:lnTo>
                    <a:pt x="10405872" y="0"/>
                  </a:lnTo>
                  <a:cubicBezTo>
                    <a:pt x="10425049" y="0"/>
                    <a:pt x="10440543" y="15494"/>
                    <a:pt x="10440543" y="34671"/>
                  </a:cubicBezTo>
                  <a:lnTo>
                    <a:pt x="10440543" y="196596"/>
                  </a:lnTo>
                  <a:cubicBezTo>
                    <a:pt x="10440543" y="215773"/>
                    <a:pt x="10425049" y="231267"/>
                    <a:pt x="10405872" y="231267"/>
                  </a:cubicBezTo>
                  <a:lnTo>
                    <a:pt x="34671" y="231267"/>
                  </a:lnTo>
                  <a:cubicBezTo>
                    <a:pt x="15494" y="231394"/>
                    <a:pt x="0" y="215773"/>
                    <a:pt x="0" y="196596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204722" y="4152452"/>
            <a:ext cx="520903" cy="520903"/>
            <a:chOff x="0" y="0"/>
            <a:chExt cx="694538" cy="69453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94563" cy="694563"/>
            </a:xfrm>
            <a:custGeom>
              <a:avLst/>
              <a:gdLst/>
              <a:ahLst/>
              <a:cxnLst/>
              <a:rect r="r" b="b" t="t" l="l"/>
              <a:pathLst>
                <a:path h="694563" w="694563">
                  <a:moveTo>
                    <a:pt x="0" y="347218"/>
                  </a:moveTo>
                  <a:cubicBezTo>
                    <a:pt x="0" y="155448"/>
                    <a:pt x="155448" y="0"/>
                    <a:pt x="347218" y="0"/>
                  </a:cubicBezTo>
                  <a:cubicBezTo>
                    <a:pt x="538988" y="0"/>
                    <a:pt x="694563" y="155448"/>
                    <a:pt x="694563" y="347218"/>
                  </a:cubicBezTo>
                  <a:cubicBezTo>
                    <a:pt x="694563" y="538988"/>
                    <a:pt x="539115" y="694563"/>
                    <a:pt x="347218" y="694563"/>
                  </a:cubicBezTo>
                  <a:cubicBezTo>
                    <a:pt x="155321" y="694563"/>
                    <a:pt x="0" y="539115"/>
                    <a:pt x="0" y="347218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9334948" y="4282678"/>
            <a:ext cx="260452" cy="260452"/>
          </a:xfrm>
          <a:custGeom>
            <a:avLst/>
            <a:gdLst/>
            <a:ahLst/>
            <a:cxnLst/>
            <a:rect r="r" b="b" t="t" l="l"/>
            <a:pathLst>
              <a:path h="260452" w="260452">
                <a:moveTo>
                  <a:pt x="0" y="0"/>
                </a:moveTo>
                <a:lnTo>
                  <a:pt x="260451" y="0"/>
                </a:lnTo>
                <a:lnTo>
                  <a:pt x="260451" y="260452"/>
                </a:lnTo>
                <a:lnTo>
                  <a:pt x="0" y="2604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378258" y="4766224"/>
            <a:ext cx="3566815" cy="37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28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Global Climate Risk Index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65173" y="5349084"/>
            <a:ext cx="7743977" cy="99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19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Comprehensive vulnerability measurement across regions, helping prioritize resources and identify most at-risk communities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55777" y="6663726"/>
            <a:ext cx="16303523" cy="31109"/>
            <a:chOff x="0" y="0"/>
            <a:chExt cx="21738031" cy="4147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738082" cy="41529"/>
            </a:xfrm>
            <a:custGeom>
              <a:avLst/>
              <a:gdLst/>
              <a:ahLst/>
              <a:cxnLst/>
              <a:rect r="r" b="b" t="t" l="l"/>
              <a:pathLst>
                <a:path h="41529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41529"/>
                  </a:lnTo>
                  <a:lnTo>
                    <a:pt x="0" y="41529"/>
                  </a:lnTo>
                  <a:close/>
                </a:path>
              </a:pathLst>
            </a:custGeom>
            <a:solidFill>
              <a:srgbClr val="C2C4B5">
                <a:alpha val="24706"/>
              </a:srgbClr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28700" y="7028209"/>
            <a:ext cx="16303523" cy="78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4"/>
              </a:lnSpc>
            </a:pPr>
            <a:r>
              <a:rPr lang="en-US" sz="481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Democratizing Climate Data for the Planet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92238" y="7958287"/>
            <a:ext cx="16303523" cy="129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1"/>
              </a:lnSpc>
            </a:pPr>
            <a:r>
              <a:rPr lang="en-US" sz="24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Our mission is clear: </a:t>
            </a:r>
            <a:r>
              <a:rPr lang="en-US" sz="2412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empower better environmental decisions by making climate intelligence accessible to everyone</a:t>
            </a:r>
            <a:r>
              <a:rPr lang="en-US" sz="24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. From farmers planning crops to governments crafting policy, ClimaSense transforms complex data into the insights that will shape our planet's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DAHD2lehkGI</dc:identifier>
  <dcterms:modified xsi:type="dcterms:W3CDTF">2011-08-01T06:04:30Z</dcterms:modified>
  <cp:revision>1</cp:revision>
  <dc:title>ClimaSense (3).pptx</dc:title>
</cp:coreProperties>
</file>